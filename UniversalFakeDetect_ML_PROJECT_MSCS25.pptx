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A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CVPR 2023  ·  PAPER 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1945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Towards Universal Fake Image Detectors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That Generalize Across Generative Models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246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Ojha, Li &amp; Lee  ·  University of Wisconsin-Madison  ·  CVPR 2023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384048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822960" y="4023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MACHINE LEARNING PROJECT  ·  TEAM MEMBERS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32308" y="4434840"/>
            <a:ext cx="3520440" cy="13716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15188" y="459943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Hafsa Saleem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15188" y="500176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MSCS25004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15188" y="53035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Repository Setup &amp; Data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335628" y="4434840"/>
            <a:ext cx="3520440" cy="13716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518508" y="459943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Amna Ghulam Nabie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18508" y="500176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MSCS25018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518508" y="53035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 Loading &amp; CLIP Feature 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038948" y="4434840"/>
            <a:ext cx="3520440" cy="13716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221828" y="459943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Momna Waryam Khan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221828" y="500176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MSCS25011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221828" y="53035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Evaluation, Metrics &amp;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 Technology University, Lahore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MS Computer Science  ·  Machine Learning  ·  Spring 202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Generalization Gap in Fake Detection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1645920"/>
            <a:ext cx="5364328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48640" y="1645920"/>
            <a:ext cx="164592" cy="4114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1874520"/>
            <a:ext cx="490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14400" y="2286000"/>
            <a:ext cx="4907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 a CNN on one generator's images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880360"/>
            <a:ext cx="481568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Binary classifier: REAL vs FAKE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Trained on one generator (e.g. ProGAN)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Achieves high accuracy in-domain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Learns generator-specific artifacts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278728" y="1645920"/>
            <a:ext cx="5364328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278728" y="1645920"/>
            <a:ext cx="164592" cy="41148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644488" y="1874520"/>
            <a:ext cx="490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644488" y="2286000"/>
            <a:ext cx="4907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Performance collapses on unseen generators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644488" y="2880360"/>
            <a:ext cx="481568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Diffusion models (Stable Diffusion, GLIDE, LDM)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Different GAN families (BigGAN, StyleGAN)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Autoregressive models (DALL-E)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Accuracy drops far below random chance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1520" y="5943600"/>
            <a:ext cx="107286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challenge: build a detector that works across generative families, not just the one it saw during training.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Strikingly Simple Universal Detector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Instead of training a heavy classifier, leverage a frozen self-supervised feature space.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15772" y="2377440"/>
            <a:ext cx="1874520" cy="13716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007212" y="2560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07212" y="30632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224 × 224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 rot="5400000">
            <a:off x="2826868" y="2953512"/>
            <a:ext cx="173736" cy="201168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037180" y="2377440"/>
            <a:ext cx="1874520" cy="1371600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128620" y="2560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 CLIP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128620" y="30632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ViT-L/14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gradients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 rot="5400000">
            <a:off x="4948276" y="2953512"/>
            <a:ext cx="173736" cy="201168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158588" y="2377440"/>
            <a:ext cx="1874520" cy="13716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250028" y="2560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Feature Vector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250028" y="30632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768-dim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 rot="5400000">
            <a:off x="7069684" y="2953512"/>
            <a:ext cx="173736" cy="201168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279996" y="2377440"/>
            <a:ext cx="1874520" cy="1371600"/>
          </a:xfrm>
          <a:prstGeom prst="rect">
            <a:avLst/>
          </a:prstGeom>
          <a:solidFill>
            <a:srgbClr val="F9A826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371436" y="2560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Linear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371436" y="30632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768 →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 rot="5400000">
            <a:off x="9191092" y="2953512"/>
            <a:ext cx="173736" cy="201168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9401404" y="2377440"/>
            <a:ext cx="1874520" cy="13716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492844" y="2560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Sigmoid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492844" y="30632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P(FAKE)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" y="4389120"/>
            <a:ext cx="3576218" cy="1828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48640" y="4389120"/>
            <a:ext cx="3576218" cy="73152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77240" y="4617720"/>
            <a:ext cx="31190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Tiny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77240" y="5120640"/>
            <a:ext cx="311901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~770 trainable parameters in the linear layer.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CNN training, no backprop through CLIP.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307738" y="4389120"/>
            <a:ext cx="3576218" cy="1828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307738" y="4389120"/>
            <a:ext cx="3576218" cy="73152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536338" y="4617720"/>
            <a:ext cx="31190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Frozen Backbone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36338" y="5120640"/>
            <a:ext cx="311901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CLIP weights are never updated.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Acts as a universal feature extractor.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066837" y="4389120"/>
            <a:ext cx="3576218" cy="1828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066837" y="4389120"/>
            <a:ext cx="3576218" cy="73152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295437" y="4617720"/>
            <a:ext cx="31190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Cross-Domain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95437" y="5120640"/>
            <a:ext cx="311901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Trained on ProGAN once, then generalizes to diffusion, GANs and autoregressive models.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Architecture in Detail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1645920"/>
            <a:ext cx="5364328" cy="27432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77240" y="187452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CLIP VIT-L/14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77240" y="2194560"/>
            <a:ext cx="490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Frozen Vision Transformer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2697480"/>
            <a:ext cx="490712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307M parameters, all frozen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Pre-trained on 400M image-text pairs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Outputs 768-dim semantic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Never sees real/fake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278728" y="1645920"/>
            <a:ext cx="5364328" cy="27432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507328" y="187452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LINEAR CLASSIFIER 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507328" y="2194560"/>
            <a:ext cx="490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Trained Linear (768 → 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553048" y="2697480"/>
            <a:ext cx="490712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769 trainable parameters (768 weights + 1 bias)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Trained with BCEWithLogitsLoss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Sigmoid output → P(FAKE)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Threshold of 0.5 for binary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4663440"/>
            <a:ext cx="2636444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40080" y="484632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307M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40080" y="5532120"/>
            <a:ext cx="24535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Frozen CLIP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367964" y="4663440"/>
            <a:ext cx="2636444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459404" y="484632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769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459404" y="5532120"/>
            <a:ext cx="24535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Trainable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187288" y="4663440"/>
            <a:ext cx="2636444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278728" y="484632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768-d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278728" y="5532120"/>
            <a:ext cx="24535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Feature 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006611" y="4663440"/>
            <a:ext cx="2636444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098051" y="484632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&lt; 5 MB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098051" y="5532120"/>
            <a:ext cx="24535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140k Real and Fake Faces Benchmark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48640" y="1645920"/>
            <a:ext cx="5364328" cy="429768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77240" y="187452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77240" y="2194560"/>
            <a:ext cx="4907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140k Real and Fake Faces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77240" y="2651760"/>
            <a:ext cx="4907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xhlulu / Kaggle  ·  256 × 256 px  ·  ~4 GB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22960" y="3108960"/>
            <a:ext cx="490712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70,000 REAL faces (Flickr / FFHQ photos)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70,000 FAKE faces (StyleGAN-generated)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Split: 100,000 train / 20,000 valid / 20,000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Downloaded via Kaggle CLI directly to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Cached to Google Drive for persistence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278728" y="1645920"/>
            <a:ext cx="5364328" cy="429768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507328" y="187452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WHY THIS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507328" y="2194560"/>
            <a:ext cx="4907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genuine cross-generator test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553048" y="3108960"/>
            <a:ext cx="490712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Linear classifier was trained on ProGAN images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 images are StyleGAN-generated faces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Different generator family from training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Higher resolution than CIFAR-class benchmarks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Differences sometimes visible to the human eye (hair, ears, background artifacts)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Evaluation in this project: 500 real + 500 fake images from the test split, sampled with a fixed random seed for reproducibility.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Setup and Environment (Steps 0 – 4)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" y="1828800"/>
            <a:ext cx="1926275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146018" y="2103120"/>
            <a:ext cx="731520" cy="7315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146018" y="21031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5800" y="3017520"/>
            <a:ext cx="16519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GPU 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31520" y="3611880"/>
            <a:ext cx="156051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Verify Colab T4 GPU is enabled. Print PyTorch and CUDA versions.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840675" y="1828800"/>
            <a:ext cx="1926275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438053" y="2103120"/>
            <a:ext cx="731520" cy="7315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438053" y="21031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977835" y="3017520"/>
            <a:ext cx="16519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Clone Repo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023555" y="3611880"/>
            <a:ext cx="156051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git clone the official WisconsinAIVision/UniversalFakeDetect repository.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132710" y="1828800"/>
            <a:ext cx="1926275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730088" y="2103120"/>
            <a:ext cx="731520" cy="7315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730088" y="21031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269870" y="3017520"/>
            <a:ext cx="16519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Install Deps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315590" y="3611880"/>
            <a:ext cx="156051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OpenAI CLIP, scikit-learn, matplotlib, seaborn, gradio, opencv, kagglehub.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424745" y="1828800"/>
            <a:ext cx="1926275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022123" y="2103120"/>
            <a:ext cx="731520" cy="7315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8022123" y="21031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561905" y="3017520"/>
            <a:ext cx="16519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Download Weights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607625" y="3611880"/>
            <a:ext cx="156051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fc_weights.pth (~3 KB) from the project page. Only the linear layer.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9716780" y="1828800"/>
            <a:ext cx="1926275" cy="41148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0314158" y="2103120"/>
            <a:ext cx="731520" cy="7315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0314158" y="21031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853940" y="3017520"/>
            <a:ext cx="16519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Build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9899660" y="3611880"/>
            <a:ext cx="156051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Load CLIP ViT-L/14, freeze all backbone params, attach Linear(768 → 1).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Building the Universal Detector (Step 5)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8640" y="1645920"/>
            <a:ext cx="6400800" cy="4754880"/>
          </a:xfrm>
          <a:prstGeom prst="rect">
            <a:avLst/>
          </a:prstGeom>
          <a:solidFill>
            <a:srgbClr val="1B1F3A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77240" y="182880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class UniversalFakeDetector(nn.Module):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ckpt_path):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super().__init__()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# 1. Load frozen CLIP ViT-L/14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self.clip_model, self.preprocess =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clip.load('ViT-L/14', device=device)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self.clip_model.eval()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for p in self.clip_model.parameters():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p.requires_grad =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# 2. Tiny linear classifier 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self.fc = nn.Linear(768,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# 3. Load pre-trained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state = torch.load(ckpt_path)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self.fc.load_state_dict(state)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@torch.no_grad()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def predict(self, pil_image):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x = self.preprocess(pil_image).unsqueeze(0)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feats = self.clip_model.encode_image(x).float()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prob = torch.sigmoid(self.fc(feats)).item()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return ('FAKE' if prob &gt; 0.5 else 'REAL', prob)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223760" y="1645920"/>
            <a:ext cx="4419295" cy="475488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7452360" y="1874520"/>
            <a:ext cx="39620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IMPLEMENTATION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498080" y="2423160"/>
            <a:ext cx="3962095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CLIP loaded once, never fine-tuned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CLIP gradients explicitly frozen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@torch.no_grad() on prediction path saves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Single Linear(768 → 1) — just 769 params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Checkpoint re-keying handles different save formats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Returns (label, fake_probability) tuple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Pipeline (Steps 6 – 8)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00888" y="164592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792328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 CLI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 rot="5400000">
            <a:off x="2712568" y="205740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2895448" y="164592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986888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 ZIP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 rot="5400000">
            <a:off x="4907128" y="205740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5090008" y="164592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181448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Cache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 rot="5400000">
            <a:off x="7101688" y="205740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7284568" y="164592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7376008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 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 rot="5400000">
            <a:off x="9296248" y="205740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9479128" y="1645920"/>
            <a:ext cx="2011680" cy="1005840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9570568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DataLoader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3108960"/>
            <a:ext cx="5364328" cy="31089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77240" y="333756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REALFAKEDATASET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22960" y="3794760"/>
            <a:ext cx="490712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Scans 0_real/ (label 0) and 1_fake/ (label 1) folders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Supports .jpg, .jpeg, .png, .bmp, .webp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Applies CLIP's official preprocessing (resize, crop, normalize)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Returns (tensor, label, file_path) per sample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 layout as the official paper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78728" y="3108960"/>
            <a:ext cx="5364328" cy="31089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507328" y="333756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DATALOADER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553048" y="3794760"/>
            <a:ext cx="490712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batch_size = 32  (fits comfortably in T4 GPU memory)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num_workers = 2  (Colab default)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shuffle = False  (deterministic evaluation order)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evaluation set: 1,000 images (500 + 500)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Drive cache makes subsequent runs near-instant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Metrics Used (Step 9)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48640" y="1691640"/>
            <a:ext cx="3515258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777240" y="1920240"/>
            <a:ext cx="1280160" cy="502920"/>
          </a:xfrm>
          <a:prstGeom prst="roundRect">
            <a:avLst>
              <a:gd fmla="val 14545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777240" y="19202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77240" y="251460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Average Precision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77240" y="2926080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Primary metric used in Tables 1 &amp; 2 of the paper. Area under the precision-recall curve, threshold-independent.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338218" y="1691640"/>
            <a:ext cx="3515258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566818" y="1920240"/>
            <a:ext cx="1280160" cy="502920"/>
          </a:xfrm>
          <a:prstGeom prst="roundRect">
            <a:avLst>
              <a:gd fmla="val 14545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566818" y="19202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66818" y="251460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66818" y="2926080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Area under the ROC curve. Measures the rank-ordering quality of the classifier across all possible thresholds.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127797" y="1691640"/>
            <a:ext cx="3515258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8356397" y="1920240"/>
            <a:ext cx="1280160" cy="502920"/>
          </a:xfrm>
          <a:prstGeom prst="roundRect">
            <a:avLst>
              <a:gd fmla="val 14545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356397" y="19202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356397" y="251460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356397" y="2926080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Fraction of correctly classified samples at a fixed sigmoid threshold of 0.5.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48640" y="4160520"/>
            <a:ext cx="3515258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777240" y="4389120"/>
            <a:ext cx="1280160" cy="502920"/>
          </a:xfrm>
          <a:prstGeom prst="roundRect">
            <a:avLst>
              <a:gd fmla="val 14545" name="adj"/>
            </a:avLst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777240" y="4389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P/R/F1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77240" y="498348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Precision / Recall / F1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77240" y="5394960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Standard binary classification metrics. F1 is the harmonic mean of precision and recall.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338218" y="4160520"/>
            <a:ext cx="3515258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566818" y="4389120"/>
            <a:ext cx="1280160" cy="502920"/>
          </a:xfrm>
          <a:prstGeom prst="roundRect">
            <a:avLst>
              <a:gd fmla="val 14545" name="adj"/>
            </a:avLst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566818" y="4389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66818" y="498348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66818" y="5394960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TP, TN, FP, FN counts showing exactly where the model makes mistakes.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127797" y="4160520"/>
            <a:ext cx="3515258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8356397" y="4389120"/>
            <a:ext cx="1280160" cy="502920"/>
          </a:xfrm>
          <a:prstGeom prst="roundRect">
            <a:avLst>
              <a:gd fmla="val 14545" name="adj"/>
            </a:avLst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8356397" y="4389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8356397" y="498348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Classification Report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356397" y="5394960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Per-class breakdown from scikit-learn, including support (sample counts).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9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Evaluation on 140k Faces Test Split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Evaluated on 500 real + 500 fake faces from the 140k Real and Fake Faces test split.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48640" y="2103120"/>
            <a:ext cx="2636444" cy="15544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40080" y="228600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0.9669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40080" y="2971800"/>
            <a:ext cx="24535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Average Precision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40080" y="3291840"/>
            <a:ext cx="245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Paper main metric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367964" y="2103120"/>
            <a:ext cx="2636444" cy="15544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3459404" y="228600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0.9630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459404" y="2971800"/>
            <a:ext cx="24535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459404" y="3291840"/>
            <a:ext cx="245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Rank-order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187288" y="2103120"/>
            <a:ext cx="2636444" cy="15544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278728" y="228600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0.8490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278728" y="2971800"/>
            <a:ext cx="24535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278728" y="3291840"/>
            <a:ext cx="245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At threshold 0.5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9006611" y="2103120"/>
            <a:ext cx="2636444" cy="15544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9098051" y="2286000"/>
            <a:ext cx="24535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0.8262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9098051" y="2971800"/>
            <a:ext cx="24535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9098051" y="3291840"/>
            <a:ext cx="245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Balanced precision /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48640" y="3931920"/>
            <a:ext cx="11094415" cy="219456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777240" y="4114800"/>
            <a:ext cx="106372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CLASSIFICATION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731520" y="4526280"/>
            <a:ext cx="21457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2877251" y="4526280"/>
            <a:ext cx="21457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022982" y="4526280"/>
            <a:ext cx="21457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7168713" y="4526280"/>
            <a:ext cx="21457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9314444" y="4526280"/>
            <a:ext cx="21457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2"/>
          <p:cNvCxnSpPr/>
          <p:nvPr/>
        </p:nvCxnSpPr>
        <p:spPr>
          <a:xfrm>
            <a:off x="731520" y="4892040"/>
            <a:ext cx="10728655" cy="0"/>
          </a:xfrm>
          <a:prstGeom prst="straightConnector1">
            <a:avLst/>
          </a:prstGeom>
          <a:noFill/>
          <a:ln cap="flat" cmpd="sng" w="12700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2"/>
          <p:cNvSpPr/>
          <p:nvPr/>
        </p:nvSpPr>
        <p:spPr>
          <a:xfrm>
            <a:off x="731520" y="498348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2877251" y="498348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022982" y="498348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0.98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168713" y="498348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9314444" y="498348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731520" y="534924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FAKE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2877251" y="534924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0.97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022982" y="534924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7168713" y="534924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0.83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314444" y="534924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31520" y="571500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Macro avg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877251" y="571500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022982" y="571500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7168713" y="571500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9314444" y="5715000"/>
            <a:ext cx="21457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10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Confusion Matrix &amp; Probability Distribution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_build/result_confusion_clean.png" id="319" name="Google Shape;3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64008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7132320" y="1554480"/>
            <a:ext cx="4510735" cy="45720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7360920" y="1737360"/>
            <a:ext cx="4053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7360920" y="2148840"/>
            <a:ext cx="40535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Reading the matrix: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406640" y="2468880"/>
            <a:ext cx="4053535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490 / 500 real images correctly identified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359 / 500 fake images correctly caught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10 false alarms (real flagged as fake)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141 fakes missed (slipped past as real)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7360920" y="4206240"/>
            <a:ext cx="40535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Distribution plot: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7406640" y="4526280"/>
            <a:ext cx="405353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 images cluster strongly near P(FAKE) =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Fake images cluster near P(FAKE) =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Clear bimodal separation — the model is confident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11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Consistency Across Train / Valid / Test Splits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Same detector evaluated on 1,000 images from each of the dataset's three splits. Consistent metrics confirm the evaluation pipeline is sound.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2194560"/>
            <a:ext cx="3515258" cy="29260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548640" y="2194560"/>
            <a:ext cx="3515258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48640" y="2194560"/>
            <a:ext cx="3515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731520" y="2880360"/>
            <a:ext cx="3149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731520" y="3154680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0.9732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4"/>
          <p:cNvCxnSpPr/>
          <p:nvPr/>
        </p:nvCxnSpPr>
        <p:spPr>
          <a:xfrm>
            <a:off x="1005840" y="3977640"/>
            <a:ext cx="2600858" cy="0"/>
          </a:xfrm>
          <a:prstGeom prst="straightConnector1">
            <a:avLst/>
          </a:prstGeom>
          <a:noFill/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4"/>
          <p:cNvSpPr/>
          <p:nvPr/>
        </p:nvSpPr>
        <p:spPr>
          <a:xfrm>
            <a:off x="731520" y="4114800"/>
            <a:ext cx="3149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731520" y="4389120"/>
            <a:ext cx="31494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0.9080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338218" y="2194560"/>
            <a:ext cx="3515258" cy="29260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4338218" y="2194560"/>
            <a:ext cx="3515258" cy="502920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4338218" y="2194560"/>
            <a:ext cx="3515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521098" y="2880360"/>
            <a:ext cx="3149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521098" y="3154680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0.9781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4"/>
          <p:cNvCxnSpPr/>
          <p:nvPr/>
        </p:nvCxnSpPr>
        <p:spPr>
          <a:xfrm>
            <a:off x="4795418" y="3977640"/>
            <a:ext cx="2600858" cy="0"/>
          </a:xfrm>
          <a:prstGeom prst="straightConnector1">
            <a:avLst/>
          </a:prstGeom>
          <a:noFill/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4"/>
          <p:cNvSpPr/>
          <p:nvPr/>
        </p:nvSpPr>
        <p:spPr>
          <a:xfrm>
            <a:off x="4521098" y="4114800"/>
            <a:ext cx="3149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521098" y="4389120"/>
            <a:ext cx="31494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0.9150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8127797" y="2194560"/>
            <a:ext cx="3515258" cy="29260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8127797" y="2194560"/>
            <a:ext cx="3515258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8127797" y="2194560"/>
            <a:ext cx="3515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8310677" y="2880360"/>
            <a:ext cx="3149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8310677" y="3154680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0.9764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4"/>
          <p:cNvCxnSpPr/>
          <p:nvPr/>
        </p:nvCxnSpPr>
        <p:spPr>
          <a:xfrm>
            <a:off x="8584997" y="3977640"/>
            <a:ext cx="2600858" cy="0"/>
          </a:xfrm>
          <a:prstGeom prst="straightConnector1">
            <a:avLst/>
          </a:prstGeom>
          <a:noFill/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4"/>
          <p:cNvSpPr/>
          <p:nvPr/>
        </p:nvSpPr>
        <p:spPr>
          <a:xfrm>
            <a:off x="8310677" y="4114800"/>
            <a:ext cx="3149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310677" y="4389120"/>
            <a:ext cx="31494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0.9110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777240" y="5486400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AP varies by only 0.005 across splits. The detector trained on ProGAN generalizes consistently to StyleGAN face images — confirming the paper's cross-generator claim.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EXTENSION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Video Deepfake Detection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paper's image classifier extended to video using frame-level sampling and aggregation.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700888" y="228600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792328" y="2377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 video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 rot="5400000">
            <a:off x="2712568" y="269748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895448" y="228600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2986888" y="2377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evenly-spaced 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 rot="5400000">
            <a:off x="4907128" y="269748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090008" y="228600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5181448" y="2377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image detector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each frame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 rot="5400000">
            <a:off x="7101688" y="269748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7284568" y="2286000"/>
            <a:ext cx="201168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7376008" y="2377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Aggregate per-frame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P(FAKE) scores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 rot="5400000">
            <a:off x="9296248" y="2697480"/>
            <a:ext cx="164592" cy="182880"/>
          </a:xfrm>
          <a:prstGeom prst="rtTriangl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9479128" y="2286000"/>
            <a:ext cx="2011680" cy="1005840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9570568" y="2377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Single verdict: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 or FAKE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48640" y="3749040"/>
            <a:ext cx="5364328" cy="246888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777240" y="397764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AGGREGATION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822960" y="4434840"/>
            <a:ext cx="49071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Mean P(FAKE) across all sampled 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Median P(FAKE) — robust to outlier 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Fraction of frames flagged FAKE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Per-frame probability plot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278728" y="3749040"/>
            <a:ext cx="5364328" cy="246888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6507328" y="397764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OPENCV FRAME SAMPLING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6553048" y="4434840"/>
            <a:ext cx="49071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cv2.VideoCapture supports upload and webcam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= total_frames // max_frames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Handles videos with unknown frame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BGR → RGB conversion before PIL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Interactive Gradio Web Application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Three-tab web demo deployed via Gradio's share=True public URL.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48640" y="2194560"/>
            <a:ext cx="3515258" cy="36576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777240" y="2423160"/>
            <a:ext cx="822960" cy="365760"/>
          </a:xfrm>
          <a:prstGeom prst="roundRect">
            <a:avLst>
              <a:gd fmla="val 12500" name="adj"/>
            </a:avLst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777240" y="242316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777240" y="297180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Image Upload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822960" y="3611880"/>
            <a:ext cx="305805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File upload from computer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Clipboard paste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Returns label + P(FAKE)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Probability bar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338218" y="2194560"/>
            <a:ext cx="3515258" cy="36576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4566818" y="2423160"/>
            <a:ext cx="822960" cy="365760"/>
          </a:xfrm>
          <a:prstGeom prst="roundRect">
            <a:avLst>
              <a:gd fmla="val 12500" name="adj"/>
            </a:avLst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4566818" y="242316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4566818" y="297180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Webcam Snapshot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612538" y="3611880"/>
            <a:ext cx="305805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Capture single photo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Browser webcam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Works on phone via QR /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 prediction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8127797" y="2194560"/>
            <a:ext cx="3515258" cy="365760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8356397" y="2423160"/>
            <a:ext cx="822960" cy="365760"/>
          </a:xfrm>
          <a:prstGeom prst="roundRect">
            <a:avLst>
              <a:gd fmla="val 12500" name="adj"/>
            </a:avLst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8356397" y="242316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8356397" y="297180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Video Analysis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8402117" y="3611880"/>
            <a:ext cx="305805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Upload video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Sample up to 32 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Aggregate verdict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Per-frame probability plot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solidFill>
            <a:srgbClr val="1B1F3A"/>
          </a:solidFill>
          <a:ln cap="flat" cmpd="sng" w="12700">
            <a:solidFill>
              <a:srgbClr val="1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demo.queue().launch(share=True)   →   Public URL valid for ~72 hours, accessible from any phone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Individual Contributions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548640" y="1691640"/>
            <a:ext cx="3545738" cy="443484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548640" y="1691640"/>
            <a:ext cx="3545738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777240" y="1874520"/>
            <a:ext cx="3088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Hafsa Saleem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777240" y="2286000"/>
            <a:ext cx="30885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MSCS25004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777240" y="2560320"/>
            <a:ext cx="30885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Repository Setup &amp; Data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822960" y="3063240"/>
            <a:ext cx="3042818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Cloned and verified the official UniversalFakeDetect 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Implemented Steps 0–4: GPU check, clone, dependencies,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Designed Kaggle CLI integration for direct dataset download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Built RealFakeDataset and DataLoader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 up Google Drive caching for dataset persistence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322978" y="1691640"/>
            <a:ext cx="3545738" cy="443484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4322978" y="1691640"/>
            <a:ext cx="3545738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4551578" y="1874520"/>
            <a:ext cx="3088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Amna Ghulam Nabie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551578" y="2286000"/>
            <a:ext cx="30885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MSCS25018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4551578" y="2560320"/>
            <a:ext cx="30885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 &amp; CLIP Feature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4597298" y="3063240"/>
            <a:ext cx="3042818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Implemented the UniversalFakeDetector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Loaded CLIP ViT-L/14 and froze all backbone 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Wrote extract_features() and predict() methods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Managed checkpoint loading and key re-mapping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Verified parameter counts (307M frozen vs 769 trainable)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8097317" y="1691640"/>
            <a:ext cx="3545738" cy="443484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8097317" y="1691640"/>
            <a:ext cx="3545738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8325917" y="1874520"/>
            <a:ext cx="3088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Momna Waryam Khan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8325917" y="2286000"/>
            <a:ext cx="30885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MSCS25011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8325917" y="2560320"/>
            <a:ext cx="30885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Evaluation, Metrics &amp;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8371637" y="3063240"/>
            <a:ext cx="3042818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Implemented the full evaluation pipeline (AP, AUC, Acc, F1)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Built confusion matrix and probability distribution plots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Cross-split evaluation across train / valid /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Added OpenCV-based video frame sampling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Developed the three-tab Gradio web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8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Summary &amp;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48640" y="1691640"/>
            <a:ext cx="5364328" cy="443484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777240" y="192024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WE DID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22960" y="2423160"/>
            <a:ext cx="49071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Re-implemented the CVPR 2023 architecture faithfully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Loaded frozen CLIP ViT-L/14 with trained Linear(768→1) 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Evaluated on the 140k Faces dataset (StyleGAN vs real photos)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Achieved AP = 0.97 across train, valid and test splits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Extended to video via OpenCV frame aggregation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Built a full Gradio demo with image, webcam and video tabs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 up Google Drive caching for reproducible re-runs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6278728" y="1691640"/>
            <a:ext cx="5364328" cy="4434840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6507328" y="192024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507328" y="2286000"/>
            <a:ext cx="49071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Frozen CLIP + one linear layer beats heavy trained CNNs.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6553048" y="3108960"/>
            <a:ext cx="49071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Self-supervised features generalize across generative families; supervised CNN features overfit to the training generator. The simplest model is often the most universal.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18"/>
          <p:cNvCxnSpPr/>
          <p:nvPr/>
        </p:nvCxnSpPr>
        <p:spPr>
          <a:xfrm>
            <a:off x="6553048" y="4251960"/>
            <a:ext cx="4815688" cy="0"/>
          </a:xfrm>
          <a:prstGeom prst="straightConnector1">
            <a:avLst/>
          </a:prstGeom>
          <a:noFill/>
          <a:ln cap="flat" cmpd="sng" w="9525">
            <a:solidFill>
              <a:srgbClr val="E1E6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18"/>
          <p:cNvSpPr/>
          <p:nvPr/>
        </p:nvSpPr>
        <p:spPr>
          <a:xfrm>
            <a:off x="6507328" y="4389120"/>
            <a:ext cx="490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6553048" y="4800600"/>
            <a:ext cx="490712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Reproduce the paper's full 19-domain evaluation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Try OpenCLIP, ViT-B/32 and ViT-H/14 variants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Combine CLIP with frequency-domain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Temporal model for stronger video deepfake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0911535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Universal Fake Image Detector  ·  ITU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A47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A826"/>
          </a:solidFill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82296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822960" y="1508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9"/>
          <p:cNvCxnSpPr/>
          <p:nvPr/>
        </p:nvCxnSpPr>
        <p:spPr>
          <a:xfrm>
            <a:off x="822960" y="228600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9"/>
          <p:cNvSpPr/>
          <p:nvPr/>
        </p:nvSpPr>
        <p:spPr>
          <a:xfrm>
            <a:off x="822960" y="2423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822960" y="2743200"/>
            <a:ext cx="10972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[1] Ojha, U., Li, Y., &amp; Lee, Y. J. (2023). Towards Universal Fake Image Detectors that Generalize Across Generative Models. CVPR 2023.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[2] Radford, A., et al. (2021). Learning Transferable Visual Models From Natural Language Supervision (CLIP). ICML 2021.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[3] Wang, S.-Y., Wang, O., Zhang, R., Owens, A., &amp; Efros, A. A. (2020). CNN-generated images are surprisingly easy to spot... for now. CVPR 2020.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[4] Karras, T., Laine, S., &amp; Aila, T. (2019). A Style-Based Generator Architecture for GANs (StyleGAN). CVPR 2019.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[5] xhlulu (Kaggle). 140k Real and Fake Faces Dataset.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19"/>
          <p:cNvCxnSpPr/>
          <p:nvPr/>
        </p:nvCxnSpPr>
        <p:spPr>
          <a:xfrm>
            <a:off x="822960" y="516636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19"/>
          <p:cNvSpPr/>
          <p:nvPr/>
        </p:nvSpPr>
        <p:spPr>
          <a:xfrm>
            <a:off x="822960" y="5303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Paper: arxiv.org/abs/2302.10174    ·    Code: github.com/WisconsinAIVision/UniversalFakeDetect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Hafsa Saleem  ·  Amna Ghulam Nabie  ·  Momna Waryam Khan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MSCS25004  ·  MSCS25018  ·  MSCS25011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82296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9A826"/>
                </a:solidFill>
                <a:latin typeface="Calibri"/>
                <a:ea typeface="Calibri"/>
                <a:cs typeface="Calibri"/>
                <a:sym typeface="Calibri"/>
              </a:rPr>
              <a:t>Information Technology University, Lahore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